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26A9A0"/>
                </a:solidFill>
                <a:latin typeface="Arial"/>
              </a:rPr>
              <a:t>GRUPP 5 ·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6583680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Arial"/>
              </a:rPr>
              <a:t>Fashion MNIST
&amp; Data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0"/>
            <a:ext cx="6675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0" i="0">
                <a:solidFill>
                  <a:srgbClr val="D2E1EB"/>
                </a:solidFill>
                <a:latin typeface="Arial"/>
              </a:rPr>
              <a:t>Hur varierad träningsdata påverkar en CNN-modells förmåga att känna igen klädesplagg.</a:t>
            </a:r>
          </a:p>
        </p:txBody>
      </p:sp>
      <p:pic>
        <p:nvPicPr>
          <p:cNvPr id="6" name="Picture 5" descr="ex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26195"/>
            <a:ext cx="4069080" cy="331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98932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 i="0">
                <a:solidFill>
                  <a:srgbClr val="D2E1EB"/>
                </a:solidFill>
                <a:latin typeface="Arial"/>
              </a:rPr>
              <a:t>Irfan · Salam · Yunus · Elza · Eliesa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1. KORT 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Kort kontext: data och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Irfan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95728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27048"/>
            <a:ext cx="2121408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500" b="1" i="0">
                <a:solidFill>
                  <a:srgbClr val="0D2D49"/>
                </a:solidFill>
                <a:latin typeface="Arial"/>
              </a:rPr>
              <a:t>60 000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92808"/>
            <a:ext cx="212140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träningsbilder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417320"/>
            <a:ext cx="2395728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527048"/>
            <a:ext cx="2121408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500" b="1" i="0">
                <a:solidFill>
                  <a:srgbClr val="0D2D49"/>
                </a:solidFill>
                <a:latin typeface="Arial"/>
              </a:rPr>
              <a:t>10 000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1892808"/>
            <a:ext cx="212140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testbilder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2395728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27048"/>
            <a:ext cx="2121408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500" b="1" i="0">
                <a:solidFill>
                  <a:srgbClr val="0D2D49"/>
                </a:solidFill>
                <a:latin typeface="Arial"/>
              </a:rPr>
              <a:t>28×28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92808"/>
            <a:ext cx="212140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gråskala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417320"/>
            <a:ext cx="2395728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27048"/>
            <a:ext cx="2121408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500" b="1" i="0">
                <a:solidFill>
                  <a:srgbClr val="0D2D49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92808"/>
            <a:ext cx="2121408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klasser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606040"/>
            <a:ext cx="3657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1" i="0">
                <a:solidFill>
                  <a:srgbClr val="0D2D49"/>
                </a:solidFill>
                <a:latin typeface="Arial"/>
              </a:rPr>
              <a:t>Vad gjorde preprocessing?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07792"/>
            <a:ext cx="5486400" cy="2103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Laddade Fashion MNIST från Keras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Skalade pixelvärden från 0-255 till 0-1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Formade bilderna till (28, 28, 1) för CNN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Kontrollerade att klasserna är balanserade</a:t>
            </a:r>
          </a:p>
        </p:txBody>
      </p:sp>
      <p:pic>
        <p:nvPicPr>
          <p:cNvPr id="20" name="Picture 19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657669"/>
            <a:ext cx="4800600" cy="28685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5715000"/>
            <a:ext cx="106070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EE8528"/>
                </a:solidFill>
                <a:latin typeface="Arial"/>
              </a:rPr>
              <a:t>Real life: först förbereder vi materialet rätt, sedan kan modellen börja lära sig.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1. KORT 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Baseline: vår startpunkt och första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Salam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886200" cy="2743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27048"/>
            <a:ext cx="36118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 i="0">
                <a:solidFill>
                  <a:srgbClr val="0D2D49"/>
                </a:solidFill>
                <a:latin typeface="Arial"/>
              </a:rPr>
              <a:t>CNN-modellen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3611880" cy="22128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 i="0">
                <a:solidFill>
                  <a:srgbClr val="141E28"/>
                </a:solidFill>
                <a:latin typeface="Arial"/>
              </a:rPr>
              <a:t>Input 28×28×1
Conv2D + ReLU
MaxPooling
Conv2D + ReLU
MaxPooling
Flatten
Dense 10 + Softmax</a:t>
            </a:r>
          </a:p>
        </p:txBody>
      </p:sp>
      <p:pic>
        <p:nvPicPr>
          <p:cNvPr id="9" name="Picture 8" descr="baseline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634" y="1389888"/>
            <a:ext cx="5628451" cy="2606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389120"/>
            <a:ext cx="2331720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98848"/>
            <a:ext cx="2057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 i="0">
                <a:solidFill>
                  <a:srgbClr val="26A9A0"/>
                </a:solidFill>
                <a:latin typeface="Arial"/>
              </a:rPr>
              <a:t>89.3%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64608"/>
            <a:ext cx="205740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100" b="0" i="0">
                <a:solidFill>
                  <a:srgbClr val="141E28"/>
                </a:solidFill>
                <a:latin typeface="Arial"/>
              </a:rPr>
              <a:t>test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389120"/>
            <a:ext cx="2331720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4498848"/>
            <a:ext cx="2057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 i="0">
                <a:solidFill>
                  <a:srgbClr val="0D2D49"/>
                </a:solidFill>
                <a:latin typeface="Arial"/>
              </a:rP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4864608"/>
            <a:ext cx="205740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100" b="0" i="0">
                <a:solidFill>
                  <a:srgbClr val="141E28"/>
                </a:solidFill>
                <a:latin typeface="Arial"/>
              </a:rPr>
              <a:t>train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389120"/>
            <a:ext cx="2331720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98848"/>
            <a:ext cx="2057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 i="0">
                <a:solidFill>
                  <a:srgbClr val="0D2D49"/>
                </a:solidFill>
                <a:latin typeface="Arial"/>
              </a:rP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64608"/>
            <a:ext cx="205740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100" b="0" i="0">
                <a:solidFill>
                  <a:srgbClr val="141E28"/>
                </a:solidFill>
                <a:latin typeface="Arial"/>
              </a:rPr>
              <a:t>validation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4389120"/>
            <a:ext cx="2331720" cy="8686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4498848"/>
            <a:ext cx="2057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 i="0">
                <a:solidFill>
                  <a:srgbClr val="CF4646"/>
                </a:solidFill>
                <a:latin typeface="Arial"/>
              </a:rPr>
              <a:t>+6%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4864608"/>
            <a:ext cx="205740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100" b="0" i="0">
                <a:solidFill>
                  <a:srgbClr val="141E28"/>
                </a:solidFill>
                <a:latin typeface="Arial"/>
              </a:rPr>
              <a:t>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59552"/>
            <a:ext cx="105156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 i="0">
                <a:solidFill>
                  <a:srgbClr val="141E28"/>
                </a:solidFill>
                <a:latin typeface="Arial"/>
              </a:rPr>
              <a:t>Overfitting: modellen blev mycket bättre på träningsbilderna än på valideringsbilderna. Det är som en elev som memorerar gamla frågor istället för att förstå ämnet.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2. FOKUSOMRÅDE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Vad är data augmentation?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Yunus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5156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 i="0">
                <a:solidFill>
                  <a:srgbClr val="141E28"/>
                </a:solidFill>
                <a:latin typeface="Arial"/>
              </a:rPr>
              <a:t>Data augmentation betyder att vi skapar små, realistiska variationer av träningsbilderna under träningen.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74720" cy="1874519"/>
          </a:xfrm>
          <a:prstGeom prst="roundRect">
            <a:avLst/>
          </a:prstGeom>
          <a:solidFill>
            <a:srgbClr val="EEFAF9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 i="0">
                <a:solidFill>
                  <a:srgbClr val="26A9A0"/>
                </a:solidFill>
                <a:latin typeface="Arial"/>
              </a:rPr>
              <a:t>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3200400" cy="1344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141E28"/>
                </a:solidFill>
                <a:latin typeface="Arial"/>
              </a:rPr>
              <a:t>Bilden blir lite sned. Plagget är fortfarande samma klass.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40280"/>
            <a:ext cx="3474720" cy="1874519"/>
          </a:xfrm>
          <a:prstGeom prst="roundRect">
            <a:avLst/>
          </a:prstGeom>
          <a:solidFill>
            <a:srgbClr val="EEFAF9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5000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 i="0">
                <a:solidFill>
                  <a:srgbClr val="26A9A0"/>
                </a:solidFill>
                <a:latin typeface="Arial"/>
              </a:rPr>
              <a:t>Zoom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15768"/>
            <a:ext cx="3200400" cy="1344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141E28"/>
                </a:solidFill>
                <a:latin typeface="Arial"/>
              </a:rPr>
              <a:t>Bilden blir lite större eller mindre. Modellen lär sig storleksvariation.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40280"/>
            <a:ext cx="3474720" cy="1874519"/>
          </a:xfrm>
          <a:prstGeom prst="roundRect">
            <a:avLst/>
          </a:prstGeom>
          <a:solidFill>
            <a:srgbClr val="EEFAF9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50008"/>
            <a:ext cx="32004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 i="0">
                <a:solidFill>
                  <a:srgbClr val="26A9A0"/>
                </a:solidFill>
                <a:latin typeface="Arial"/>
              </a:rPr>
              <a:t>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15768"/>
            <a:ext cx="3200400" cy="134416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141E28"/>
                </a:solidFill>
                <a:latin typeface="Arial"/>
              </a:rPr>
              <a:t>Bilden flyttas lite åt sidan, upp eller ner. Objektet behöver inte ligga exakt i mitten.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106070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 i="0">
                <a:solidFill>
                  <a:srgbClr val="CF4646"/>
                </a:solidFill>
                <a:latin typeface="Arial"/>
              </a:rPr>
              <a:t>Viktigt: augmentation används bara på träningsdata - inte på validation eller testdata.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1" i="0">
                <a:solidFill>
                  <a:srgbClr val="EE8528"/>
                </a:solidFill>
                <a:latin typeface="Arial"/>
              </a:rPr>
              <a:t>Real life: vi tränar inte någon med bara perfekta bilder. Vi visar också lite sneda och förflyttade exempel.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2. FOKUSOMRÅDE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Varför behövs augmentation?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Yunus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754880" cy="1417320"/>
          </a:xfrm>
          <a:prstGeom prst="roundRect">
            <a:avLst/>
          </a:prstGeom>
          <a:solidFill>
            <a:srgbClr val="FDF4F4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4480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 i="0">
                <a:solidFill>
                  <a:srgbClr val="CF4646"/>
                </a:solidFill>
                <a:latin typeface="Arial"/>
              </a:rPr>
              <a:t>Problemet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8"/>
            <a:ext cx="4480560" cy="886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 i="0">
                <a:solidFill>
                  <a:srgbClr val="141E28"/>
                </a:solidFill>
                <a:latin typeface="Arial"/>
              </a:rPr>
              <a:t>Om modellen bara ser perfekta träningsbilder kan den bli för beroende av exakt position, storlek och 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17320"/>
            <a:ext cx="4754880" cy="1417320"/>
          </a:xfrm>
          <a:prstGeom prst="roundRect">
            <a:avLst/>
          </a:prstGeom>
          <a:solidFill>
            <a:srgbClr val="F5FCF8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27048"/>
            <a:ext cx="4480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 i="0">
                <a:solidFill>
                  <a:srgbClr val="2CA058"/>
                </a:solidFill>
                <a:latin typeface="Arial"/>
              </a:rPr>
              <a:t>Idén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92808"/>
            <a:ext cx="4480560" cy="886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 i="0">
                <a:solidFill>
                  <a:srgbClr val="141E28"/>
                </a:solidFill>
                <a:latin typeface="Arial"/>
              </a:rPr>
              <a:t>Vi gör träningen lite svårare och mer varierad, så modellen måste lära sig mer generella mönster.</a:t>
            </a:r>
          </a:p>
        </p:txBody>
      </p:sp>
      <p:pic>
        <p:nvPicPr>
          <p:cNvPr id="12" name="Picture 11" descr="augmentation_example_shift_10%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32" y="3246120"/>
            <a:ext cx="4629335" cy="960120"/>
          </a:xfrm>
          <a:prstGeom prst="rect">
            <a:avLst/>
          </a:prstGeom>
        </p:spPr>
      </p:pic>
      <p:pic>
        <p:nvPicPr>
          <p:cNvPr id="13" name="Picture 12" descr="augmentation_example_rotation_5%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32" y="3246120"/>
            <a:ext cx="4629335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434840"/>
            <a:ext cx="48920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586773"/>
                </a:solidFill>
                <a:latin typeface="Arial"/>
              </a:rPr>
              <a:t>En sko är fortfarande en sko, även om den flyttas lite.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34840"/>
            <a:ext cx="4937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586773"/>
                </a:solidFill>
                <a:latin typeface="Arial"/>
              </a:rPr>
              <a:t>En bild är fortfarande samma klass, även om den roteras lite.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4241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 i="0">
                <a:solidFill>
                  <a:srgbClr val="EE8528"/>
                </a:solidFill>
                <a:latin typeface="Arial"/>
              </a:rPr>
              <a:t>Målet är inte att göra bilderna konstiga - målet är realistisk variation.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2. FOKUSOMRÅDE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Vad testade vi?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Yunus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586773"/>
                </a:solidFill>
                <a:latin typeface="Arial"/>
              </a:rPr>
              <a:t>Samma CNN i alla experiment. Bara augmentation-lagret ändrades.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792224" cy="457200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56231"/>
            <a:ext cx="171907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737360"/>
            <a:ext cx="3392424" cy="457200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1856231"/>
            <a:ext cx="331927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Augmentation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737360"/>
            <a:ext cx="1472184" cy="457200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2744" y="1856231"/>
            <a:ext cx="1399031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Test acc.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737360"/>
            <a:ext cx="1106424" cy="457200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1856231"/>
            <a:ext cx="1033271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737360"/>
            <a:ext cx="3255264" cy="457200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4504" y="1856231"/>
            <a:ext cx="3182112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Kort tolkning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67712"/>
            <a:ext cx="17922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377440"/>
            <a:ext cx="17190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141E28"/>
                </a:solidFill>
                <a:latin typeface="Arial"/>
              </a:rPr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267712"/>
            <a:ext cx="33924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2377440"/>
            <a:ext cx="33192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Ingen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267712"/>
            <a:ext cx="147218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2377440"/>
            <a:ext cx="139903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89.32%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267712"/>
            <a:ext cx="11064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377440"/>
            <a:ext cx="103327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+6.0%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9640" y="2267712"/>
            <a:ext cx="325526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4504" y="2377440"/>
            <a:ext cx="31821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Referens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852928"/>
            <a:ext cx="17922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2962656"/>
            <a:ext cx="17190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141E28"/>
                </a:solidFill>
                <a:latin typeface="Arial"/>
              </a:rPr>
              <a:t>Rotation 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852928"/>
            <a:ext cx="33924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23744" y="2962656"/>
            <a:ext cx="33192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RandomRotation(0.05)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2852928"/>
            <a:ext cx="147218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52744" y="2962656"/>
            <a:ext cx="139903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89.42%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2852928"/>
            <a:ext cx="11064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1504" y="2962656"/>
            <a:ext cx="103327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+1.2%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2852928"/>
            <a:ext cx="325526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4504" y="2962656"/>
            <a:ext cx="31821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Mindre gap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438144"/>
            <a:ext cx="17922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3547872"/>
            <a:ext cx="17190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141E28"/>
                </a:solidFill>
                <a:latin typeface="Arial"/>
              </a:rPr>
              <a:t>Zoom 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438144"/>
            <a:ext cx="33924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23744" y="3547872"/>
            <a:ext cx="33192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RandomZoom(0.10)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3438144"/>
            <a:ext cx="147218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52744" y="3547872"/>
            <a:ext cx="139903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89.82%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438144"/>
            <a:ext cx="11064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1504" y="3547872"/>
            <a:ext cx="103327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+3.7%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49640" y="3438144"/>
            <a:ext cx="325526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04504" y="3547872"/>
            <a:ext cx="31821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Lite bättre acc.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23360"/>
            <a:ext cx="17922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133088"/>
            <a:ext cx="17190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2CA058"/>
                </a:solidFill>
                <a:latin typeface="Arial"/>
              </a:rPr>
              <a:t>Shift 10%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4023360"/>
            <a:ext cx="33924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4" y="4133088"/>
            <a:ext cx="33192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RandomTranslation(0.10, 0.10)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4023360"/>
            <a:ext cx="147218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52744" y="4133088"/>
            <a:ext cx="139903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2CA058"/>
                </a:solidFill>
                <a:latin typeface="Arial"/>
              </a:rPr>
              <a:t>90.35%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4023360"/>
            <a:ext cx="11064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61504" y="4133088"/>
            <a:ext cx="103327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2CA058"/>
                </a:solidFill>
                <a:latin typeface="Arial"/>
              </a:rPr>
              <a:t>-0.6%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4023360"/>
            <a:ext cx="325526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4504" y="4133088"/>
            <a:ext cx="31821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Bäst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4608576"/>
            <a:ext cx="17922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" y="4718304"/>
            <a:ext cx="17190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141E28"/>
                </a:solidFill>
                <a:latin typeface="Arial"/>
              </a:rPr>
              <a:t>Mild komb.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0" y="4608576"/>
            <a:ext cx="33924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23744" y="4718304"/>
            <a:ext cx="33192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Rotation + zoom + shift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97880" y="4608576"/>
            <a:ext cx="147218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52744" y="4718304"/>
            <a:ext cx="139903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87.22%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06640" y="4608576"/>
            <a:ext cx="110642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61504" y="4718304"/>
            <a:ext cx="103327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-0.7%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49640" y="4608576"/>
            <a:ext cx="3255264" cy="475488"/>
          </a:xfrm>
          <a:prstGeom prst="rect">
            <a:avLst/>
          </a:prstGeom>
          <a:solidFill>
            <a:srgbClr val="F8FAFC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04504" y="4718304"/>
            <a:ext cx="31821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Bra gap, lägre acc.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5193792"/>
            <a:ext cx="17922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" y="5303520"/>
            <a:ext cx="17190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1" i="0">
                <a:solidFill>
                  <a:srgbClr val="CF4646"/>
                </a:solidFill>
                <a:latin typeface="Arial"/>
              </a:rPr>
              <a:t>Stark komb.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0" y="5193792"/>
            <a:ext cx="33924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23744" y="5303520"/>
            <a:ext cx="331927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Starkare nivåer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97880" y="5193792"/>
            <a:ext cx="147218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52744" y="5303520"/>
            <a:ext cx="139903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CF4646"/>
                </a:solidFill>
                <a:latin typeface="Arial"/>
              </a:rPr>
              <a:t>78.37%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5193792"/>
            <a:ext cx="110642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61504" y="5303520"/>
            <a:ext cx="1033271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+5.1%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49640" y="5193792"/>
            <a:ext cx="3255264" cy="475488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04504" y="5303520"/>
            <a:ext cx="3182112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00" b="0" i="0">
                <a:solidFill>
                  <a:srgbClr val="141E28"/>
                </a:solidFill>
                <a:latin typeface="Arial"/>
              </a:rPr>
              <a:t>För starkt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 i="0">
                <a:solidFill>
                  <a:srgbClr val="EE8528"/>
                </a:solidFill>
                <a:latin typeface="Arial"/>
              </a:rPr>
              <a:t>Experimenttänk: vi ändrade en sak i taget, annars vet vi inte vad som gav resultatet.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2. FOKUSOMRÅDE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Hur ser augmentation 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Yunus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515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 i="0">
                <a:solidFill>
                  <a:srgbClr val="586773"/>
                </a:solidFill>
                <a:latin typeface="Arial"/>
              </a:rPr>
              <a:t>Här ser man hur träningsbilderna får små variationer. Klassen ändras inte.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48255"/>
            <a:ext cx="1463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26A9A0"/>
                </a:solidFill>
                <a:latin typeface="Arial"/>
              </a:rPr>
              <a:t>Rotation 5%</a:t>
            </a:r>
          </a:p>
        </p:txBody>
      </p:sp>
      <p:pic>
        <p:nvPicPr>
          <p:cNvPr id="8" name="Picture 7" descr="augmentation_example_rotation_5%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421" y="1737360"/>
            <a:ext cx="4937957" cy="10241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65576"/>
            <a:ext cx="1463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26A9A0"/>
                </a:solidFill>
                <a:latin typeface="Arial"/>
              </a:rPr>
              <a:t>Zoom 10%</a:t>
            </a:r>
          </a:p>
        </p:txBody>
      </p:sp>
      <p:pic>
        <p:nvPicPr>
          <p:cNvPr id="10" name="Picture 9" descr="augmentation_example_zoom_10%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421" y="3154680"/>
            <a:ext cx="4937957" cy="1024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82896"/>
            <a:ext cx="1463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26A9A0"/>
                </a:solidFill>
                <a:latin typeface="Arial"/>
              </a:rPr>
              <a:t>Shift 10%</a:t>
            </a:r>
          </a:p>
        </p:txBody>
      </p:sp>
      <p:pic>
        <p:nvPicPr>
          <p:cNvPr id="12" name="Picture 11" descr="augmentation_example_shift_10%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421" y="4572000"/>
            <a:ext cx="4937957" cy="1024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6080760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 i="0">
                <a:solidFill>
                  <a:srgbClr val="EE8528"/>
                </a:solidFill>
                <a:latin typeface="Arial"/>
              </a:rPr>
              <a:t>Det här är huvudidén: fler realistiska exempel utan att samla in nya bilder.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3. RESULTAT OCH ANALYS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Hur tränade modellerna?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Elza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3327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586773"/>
                </a:solidFill>
                <a:latin typeface="Arial"/>
              </a:rPr>
              <a:t>Validation accuracy och validation loss över tid för alla experiment.</a:t>
            </a:r>
          </a:p>
        </p:txBody>
      </p:sp>
      <p:pic>
        <p:nvPicPr>
          <p:cNvPr id="7" name="Picture 6" descr="combined_valid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37" y="1600200"/>
            <a:ext cx="9971764" cy="3703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532120"/>
            <a:ext cx="3246120" cy="5486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41848"/>
            <a:ext cx="29718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0D2D49"/>
                </a:solidFill>
                <a:latin typeface="Arial"/>
              </a:rPr>
              <a:t>Inte bara slutresultat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5532120"/>
            <a:ext cx="3246120" cy="548640"/>
          </a:xfrm>
          <a:prstGeom prst="roundRect">
            <a:avLst/>
          </a:prstGeom>
          <a:solidFill>
            <a:srgbClr val="F5FCF8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5641848"/>
            <a:ext cx="29718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2CA058"/>
                </a:solidFill>
                <a:latin typeface="Arial"/>
              </a:rPr>
              <a:t>Shift var stabil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5532120"/>
            <a:ext cx="3246120" cy="548640"/>
          </a:xfrm>
          <a:prstGeom prst="roundRect">
            <a:avLst/>
          </a:prstGeom>
          <a:solidFill>
            <a:srgbClr val="FDF4F4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5641848"/>
            <a:ext cx="29718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CF4646"/>
                </a:solidFill>
                <a:latin typeface="Arial"/>
              </a:rPr>
              <a:t>Stark var för mycket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236208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1" i="0">
                <a:solidFill>
                  <a:srgbClr val="EE8528"/>
                </a:solidFill>
                <a:latin typeface="Arial"/>
              </a:rPr>
              <a:t>Vi ser hur modellerna lär sig - inte bara slutbetyget.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3. RESULTAT OCH ANALYS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Resultat: vilken variant gav bäst accuracy?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Elza</a:t>
            </a:r>
          </a:p>
        </p:txBody>
      </p:sp>
      <p:pic>
        <p:nvPicPr>
          <p:cNvPr id="6" name="Picture 5" descr="test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9429"/>
            <a:ext cx="6812279" cy="3061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417320"/>
            <a:ext cx="34747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1" i="0">
                <a:solidFill>
                  <a:srgbClr val="0D2D49"/>
                </a:solidFill>
                <a:latin typeface="Arial"/>
              </a:rPr>
              <a:t>Vad ser vi?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920240"/>
            <a:ext cx="3474720" cy="2377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Shift 10% blev bäst: cirka 90.35%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Zoom och rotation låg nära baseline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Stark kombination blev tydligt sämre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För mycket förändring kan ta bort viktig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983480"/>
            <a:ext cx="356616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 i="0">
                <a:solidFill>
                  <a:srgbClr val="EE8528"/>
                </a:solidFill>
                <a:latin typeface="Arial"/>
              </a:rPr>
              <a:t>Accuracy visar slutresultatet, men inte hela träningsbeteendet. Därför behövde vi slide 8 också.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3. RESULTAT OCH ANALYS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Resultat: overfitting-gap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Elza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515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586773"/>
                </a:solidFill>
                <a:latin typeface="Arial"/>
              </a:rPr>
              <a:t>Gap = train accuracy minus validation accuracy. Mindre gap betyder ofta bättre generalisering.</a:t>
            </a:r>
          </a:p>
        </p:txBody>
      </p:sp>
      <p:pic>
        <p:nvPicPr>
          <p:cNvPr id="7" name="Picture 6" descr="overfitting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55125"/>
            <a:ext cx="6583680" cy="2959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691640"/>
            <a:ext cx="34747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1" i="0">
                <a:solidFill>
                  <a:srgbClr val="0D2D49"/>
                </a:solidFill>
                <a:latin typeface="Arial"/>
              </a:rPr>
              <a:t>Tolkning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148840"/>
            <a:ext cx="3611880" cy="2423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Baseline hade störst gap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Rotation minskade gapet mycket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Shift och mild kombination fick negativt gap</a:t>
            </a:r>
          </a:p>
          <a:p>
            <a:pPr>
              <a:spcAft>
                <a:spcPts val="500"/>
              </a:spcAft>
              <a:defRPr sz="1700">
                <a:solidFill>
                  <a:srgbClr val="141E28"/>
                </a:solidFill>
                <a:latin typeface="Arial"/>
              </a:defRPr>
            </a:pPr>
            <a:r>
              <a:t>• Det betyder att träningsdelen blev svårare än valideringen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5120640"/>
            <a:ext cx="361188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 i="0">
                <a:solidFill>
                  <a:srgbClr val="EE8528"/>
                </a:solidFill>
                <a:latin typeface="Arial"/>
              </a:rPr>
              <a:t>Det här är ett tecken på att augmentation kan göra modellen mer robust.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1" i="0">
                <a:solidFill>
                  <a:srgbClr val="26A9A0"/>
                </a:solidFill>
                <a:latin typeface="Arial"/>
              </a:rPr>
              <a:t>4. SLUTSATSER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97840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0D2D49"/>
                </a:solidFill>
                <a:latin typeface="Arial"/>
              </a:rPr>
              <a:t>Slutsatser och begränsningar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384048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0" i="0">
                <a:solidFill>
                  <a:srgbClr val="586773"/>
                </a:solidFill>
                <a:latin typeface="Arial"/>
              </a:rPr>
              <a:t>Talare: Eliesa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383280" cy="1417320"/>
          </a:xfrm>
          <a:prstGeom prst="roundRect">
            <a:avLst/>
          </a:prstGeom>
          <a:solidFill>
            <a:srgbClr val="F5FCF8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1" i="0">
                <a:solidFill>
                  <a:srgbClr val="2CA058"/>
                </a:solidFill>
                <a:latin typeface="Arial"/>
              </a:rPr>
              <a:t>1. Lagom hjälpte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3108960" cy="886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0" i="0">
                <a:solidFill>
                  <a:srgbClr val="141E28"/>
                </a:solidFill>
                <a:latin typeface="Arial"/>
              </a:rPr>
              <a:t>Shift 10% gav bäst resultat och bättre generalisering.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83280" cy="1417320"/>
          </a:xfrm>
          <a:prstGeom prst="roundRect">
            <a:avLst/>
          </a:prstGeom>
          <a:solidFill>
            <a:srgbClr val="FDF4F4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8132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1" i="0">
                <a:solidFill>
                  <a:srgbClr val="CF4646"/>
                </a:solidFill>
                <a:latin typeface="Arial"/>
              </a:rPr>
              <a:t>2. För starkt skadar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47088"/>
            <a:ext cx="3108960" cy="886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0" i="0">
                <a:solidFill>
                  <a:srgbClr val="141E28"/>
                </a:solidFill>
                <a:latin typeface="Arial"/>
              </a:rPr>
              <a:t>Stark kombination gjorde bilderna för förändrade.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141732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81328"/>
            <a:ext cx="3108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1" i="0">
                <a:solidFill>
                  <a:srgbClr val="EE8528"/>
                </a:solidFill>
                <a:latin typeface="Arial"/>
              </a:rPr>
              <a:t>3. Kurvor behövs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47088"/>
            <a:ext cx="3108960" cy="8869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0" i="0">
                <a:solidFill>
                  <a:srgbClr val="141E28"/>
                </a:solidFill>
                <a:latin typeface="Arial"/>
              </a:rPr>
              <a:t>Accuracy räcker inte. Vi måste också se träningen över tid.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45720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 i="0">
                <a:solidFill>
                  <a:srgbClr val="0D2D49"/>
                </a:solidFill>
                <a:latin typeface="Arial"/>
              </a:rPr>
              <a:t>Begränsningar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5303520" cy="1600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Fashion MNIST är bara 28×28 pixlar</a:t>
            </a:r>
          </a:p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Vissa klasser liknar varandra mycket</a:t>
            </a:r>
          </a:p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Vi körde 10 epoker</a:t>
            </a:r>
          </a:p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Resultat kan variera mellan körningar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46120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 i="0">
                <a:solidFill>
                  <a:srgbClr val="0D2D49"/>
                </a:solidFill>
                <a:latin typeface="Arial"/>
              </a:rPr>
              <a:t>Nästa steg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57600"/>
            <a:ext cx="4572000" cy="1600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Testa EarlyStopping</a:t>
            </a:r>
          </a:p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Testa Dropout eller regularisering</a:t>
            </a:r>
          </a:p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Testa fler augmentation-nivåer stegvis</a:t>
            </a:r>
          </a:p>
          <a:p>
            <a:pPr>
              <a:spcAft>
                <a:spcPts val="500"/>
              </a:spcAft>
              <a:defRPr sz="1600">
                <a:solidFill>
                  <a:srgbClr val="141E28"/>
                </a:solidFill>
                <a:latin typeface="Arial"/>
              </a:defRPr>
            </a:pPr>
            <a:r>
              <a:t>• Köra flera repetitioner och ta medelvärde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1" i="0">
                <a:solidFill>
                  <a:srgbClr val="EE8528"/>
                </a:solidFill>
                <a:latin typeface="Arial"/>
              </a:rPr>
              <a:t>Det viktigaste: vi kan förklara vad vi ändrade, varför vi gjorde det och varför resultaten blev som de blev.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9436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Arial"/>
              </a:rPr>
              <a:t>Tack för oss!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11680"/>
            <a:ext cx="36576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 i="0">
                <a:solidFill>
                  <a:srgbClr val="26A9A0"/>
                </a:solidFill>
                <a:latin typeface="Arial"/>
              </a:rPr>
              <a:t>Frågor?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8932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 i="0">
                <a:solidFill>
                  <a:srgbClr val="D7E6F0"/>
                </a:solidFill>
                <a:latin typeface="Arial"/>
              </a:rPr>
              <a:t>Grupp 5 · Deep Learning · Data Augmentation</a:t>
            </a:r>
          </a:p>
        </p:txBody>
      </p:sp>
      <p:pic>
        <p:nvPicPr>
          <p:cNvPr id="6" name="Picture 5" descr="combined_valid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64127"/>
            <a:ext cx="5303520" cy="1969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0" i="0">
                <a:solidFill>
                  <a:srgbClr val="96A0A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